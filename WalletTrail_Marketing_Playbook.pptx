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5" r:id="rId36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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9D6E"/>
                </a:solidFill>
                <a:latin typeface="Calibri"/>
              </a:rPr>
              <a:t>MARKETING PLAYBOOK ·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Calibri"/>
              </a:rPr>
              <a:t>WalletTrail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0632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AF6F0"/>
                </a:solidFill>
                <a:latin typeface="Calibri"/>
              </a:rPr>
              <a:t>Instagram  ·  WhatsApp  ·  Physical Marketing  ·  Campaigns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794760"/>
            <a:ext cx="5806440" cy="566928"/>
          </a:xfrm>
          <a:prstGeom prst="roundRect">
            <a:avLst>
              <a:gd name="adj" fmla="val 50000"/>
            </a:avLst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A2A21"/>
                </a:solidFill>
                <a:latin typeface="Calibri"/>
              </a:rPr>
              <a:t>★  Feature Spotlight: Household  ·  Auto Message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1F9D6E"/>
                </a:solidFill>
                <a:latin typeface="Calibri"/>
              </a:rPr>
              <a:t>“Follow every rupee.”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5623560"/>
            <a:ext cx="50292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9D3C7"/>
                </a:solidFill>
                <a:latin typeface="Calibri"/>
              </a:rPr>
              <a:t>Pakistan-first Android money app  ·  PKR  ·  Privacy  ·  Offline  ·  Family  ·  Auto SMS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0136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Brand &amp; Audience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5349240" cy="1270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5292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Feature Spotlight — Household &amp; Auto Detect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11880"/>
            <a:ext cx="5349240" cy="1270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0448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Messaging Pillars &amp; Growth Funnel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5349240" cy="1270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463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5604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Instagram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0136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WhatsApp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60320"/>
            <a:ext cx="5349240" cy="1270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7432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5292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Physical &amp; Offline Marketing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11880"/>
            <a:ext cx="5349240" cy="1270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90448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Flagship Campaigns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663440"/>
            <a:ext cx="5349240" cy="1270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DECE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95604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42620"/>
                </a:solidFill>
                <a:latin typeface="Calibri"/>
              </a:rPr>
              <a:t>Metrics &amp; Trust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Brand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82296" cy="411480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9D6E"/>
                </a:solidFill>
                <a:latin typeface="Calibri"/>
              </a:rPr>
              <a:t>Tone &amp;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498348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Calm, clear, trustworthy — never loud crypto-hype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Simple English, optional Urdu lines for Stories/Reels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Avoid fear-mongering (“banks are stealing”)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No get-rich-quick or fake “AI investing” claims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Trust cues: real PKR use cases, loans, family, offline PK reality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46811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82296" cy="411480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9D6E"/>
                </a:solidFill>
                <a:latin typeface="Calibri"/>
              </a:rPr>
              <a:t>Visual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58568"/>
            <a:ext cx="5010912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Emerald green default; Ocean, Violet, Rose, Amber theme options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Masked balance card: PKR •••• → eye → reveal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Floating liquid-glass “pill island” bottom nav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Due-soon badges on bills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Offline banner → sync checkmark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3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146B4B"/>
                </a:solidFill>
                <a:latin typeface="Calibri"/>
              </a:rPr>
              <a:t>This deck reuses WalletTrail's own 5 in-app themes to color-code each marketing channel.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WHO WE'RE TALKING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Four People, One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82296" cy="196596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9D6E"/>
                </a:solidFill>
                <a:latin typeface="Calibri"/>
              </a:rPr>
              <a:t>A · Solo Earner (25–40)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Hide your balance with one tap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Never miss EMI day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Salary in, bills out, clarity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82296" cy="196596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9D6E"/>
                </a:solidFill>
                <a:latin typeface="Calibri"/>
              </a:rPr>
              <a:t>B · Freelancer / Small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58568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Track every client payment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Know what's still owed to you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Multiple projects, one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886200"/>
            <a:ext cx="82296" cy="1965960"/>
          </a:xfrm>
          <a:prstGeom prst="round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5079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32E"/>
                </a:solidFill>
                <a:latin typeface="Calibri"/>
              </a:rPr>
              <a:t>C · Household Manager 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Fair splits, one invite code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No more WhatsApp IOU fights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Everyone sees the shared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82296" cy="196596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5079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9D6E"/>
                </a:solidFill>
                <a:latin typeface="Calibri"/>
              </a:rPr>
              <a:t>D · Privacy-Conscious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53128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Amounts locked behind fingerprint / PIN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“Your balance isn't for the whole bus”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Re-hide automatically after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32E"/>
                </a:solidFill>
                <a:latin typeface="Calibri"/>
              </a:rP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Household — This Quarter's Hero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1">
                <a:solidFill>
                  <a:srgbClr val="E0932E"/>
                </a:solidFill>
                <a:latin typeface="Calibri"/>
              </a:rPr>
              <a:t>“One invite code. One fair ledger. Zero WhatsApp fights.”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Create or join a household with one invite code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Shared expense feed everyone can see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Split equal — instantly know who owes whom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Ongoing ledgers (monthly home) or Event ledgers (wedding, Umrah, Eid)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Pot contribute + pay-from-pot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Reports by member &amp; by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Why market it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0604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Every PK household argues about grocery money at least once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Weddings &amp; Eid are natural seasonal campaign hooks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Built-in “Share to WhatsApp” invite = a free viral loop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Differentiates WalletTrail from solo budget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Messaging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9164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620"/>
                </a:solidFill>
                <a:latin typeface="Calibri"/>
              </a:rPr>
              <a:t>See your money. Hide it when you need 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1460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1460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620"/>
                </a:solidFill>
                <a:latin typeface="Calibri"/>
              </a:rPr>
              <a:t>Loans don't wait. WalletTrail reminds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3756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620"/>
                </a:solidFill>
                <a:latin typeface="Calibri"/>
              </a:rPr>
              <a:t>No signal? Still log the spend.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052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6052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620"/>
                </a:solidFill>
                <a:latin typeface="Calibri"/>
              </a:rPr>
              <a:t>Wallets, bills, family — and bank SMS that log themselves.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8348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98348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620"/>
                </a:solidFill>
                <a:latin typeface="Calibri"/>
              </a:rPr>
              <a:t>Built for PKR life in Pakistan.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06440"/>
            <a:ext cx="111831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5943600"/>
            <a:ext cx="457200" cy="457200"/>
          </a:xfrm>
          <a:prstGeom prst="ellipse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806440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620"/>
                </a:solidFill>
                <a:latin typeface="Calibri"/>
              </a:rPr>
              <a:t>Bank SMS in. You just tap Approve.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The Growth 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17266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9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726692" cy="50292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24328"/>
            <a:ext cx="1726692" cy="256032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377440"/>
            <a:ext cx="15803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99232"/>
            <a:ext cx="15072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Reels — privacy / offline /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EMI / household / auto SMS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9612" y="31546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B64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4204" y="2377440"/>
            <a:ext cx="17266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9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4204" y="2377440"/>
            <a:ext cx="1726692" cy="50292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94204" y="2624328"/>
            <a:ext cx="1726692" cy="256032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7356" y="2377440"/>
            <a:ext cx="15803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Interest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932" y="2999232"/>
            <a:ext cx="15072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Carousels + Stories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0896" y="31546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B64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2377440"/>
            <a:ext cx="17266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9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85488" y="2377440"/>
            <a:ext cx="1726692" cy="50292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5488" y="2624328"/>
            <a:ext cx="1726692" cy="256032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8640" y="2377440"/>
            <a:ext cx="15803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Consideration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5216" y="2999232"/>
            <a:ext cx="15072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Demo video +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feature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2180" y="31546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B64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6772" y="2377440"/>
            <a:ext cx="17266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9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6772" y="2377440"/>
            <a:ext cx="1726692" cy="50292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6772" y="2624328"/>
            <a:ext cx="1726692" cy="256032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9924" y="2377440"/>
            <a:ext cx="15803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0" y="2999232"/>
            <a:ext cx="15072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APK link / Play Store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(when live)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3464" y="31546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B64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8056" y="2377440"/>
            <a:ext cx="17266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68056" y="2377440"/>
            <a:ext cx="1726692" cy="502920"/>
          </a:xfrm>
          <a:prstGeom prst="round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8056" y="2624328"/>
            <a:ext cx="1726692" cy="256032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1208" y="2377440"/>
            <a:ext cx="15803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Activation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7784" y="2999232"/>
            <a:ext cx="15072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Wallet + expense + PIN +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reminders + household + SMS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4748" y="31546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B6B64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59340" y="2377440"/>
            <a:ext cx="17266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9340" y="2377440"/>
            <a:ext cx="1726692" cy="502920"/>
          </a:xfrm>
          <a:prstGeom prst="round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59340" y="2624328"/>
            <a:ext cx="1726692" cy="256032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32492" y="2377440"/>
            <a:ext cx="15803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Retention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9068" y="2999232"/>
            <a:ext cx="15072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Weekly reminder &amp;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42620"/>
                </a:solidFill>
                <a:latin typeface="Calibri"/>
              </a:rPr>
              <a:t>household recap Stories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8920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B64"/>
                </a:solidFill>
                <a:latin typeface="Calibri"/>
              </a:rPr>
              <a:t>Activation checklist: create a wallet → add one expense (or approve a detected SMS) → turn on Hide amounts + set PIN → enable due reminders → opt in to bank message detect → create or join a Family household.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D95078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Instagram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79392"/>
            <a:ext cx="1280160" cy="3810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AF6F0"/>
                </a:solidFill>
                <a:latin typeface="Calibri"/>
              </a:rPr>
              <a:t>Reels, Carousels, Stories &amp; hashtags built around privacy, offline life, and household splitting.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5078"/>
                </a:solidFill>
                <a:latin typeface="Calibri"/>
              </a:rPr>
              <a:t>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Weekly Content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1831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661111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109728" marR="109728" marT="54864" marB="54864" anchor="ctr">
                    <a:solidFill>
                      <a:srgbClr val="D95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109728" marR="109728" marT="54864" marB="54864" anchor="ctr">
                    <a:solidFill>
                      <a:srgbClr val="D95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109728" marR="109728" marT="54864" marB="54864" anchor="ctr">
                    <a:solidFill>
                      <a:srgbClr val="D9507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EMI calendar tips, how splitting works, how bank SMS becomes a draft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Product Demo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Privacy eye, offline save, SMS Approve card, household split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Social Proof / Lifestyle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Freelancer week, Family Grocery Sunday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Community / UGC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“Show your wallet names”, “Show your household name”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Offer / CTA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Early access APK / waitlist / Play link later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5078"/>
                </a:solidFill>
                <a:latin typeface="Calibri"/>
              </a:rPr>
              <a:t>INSTAGRAM · REELS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Reel Ideas That Fit WalletTrail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Before/after:</a:t>
            </a:r>
            <a:r>
              <a:rPr sz="1500" b="0">
                <a:solidFill>
                  <a:srgbClr val="5B6B64"/>
                </a:solidFill>
                <a:latin typeface="Calibri"/>
              </a:rPr>
              <a:t>  visible balance → masked (the privacy hook)</a:t>
            </a:r>
          </a:p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“POV: shared phone at home”</a:t>
            </a:r>
            <a:r>
              <a:rPr sz="1500" b="0">
                <a:solidFill>
                  <a:srgbClr val="5B6B64"/>
                </a:solidFill>
                <a:latin typeface="Calibri"/>
              </a:rPr>
              <a:t>  — who's watching your screen?</a:t>
            </a:r>
          </a:p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★ Split-screen:</a:t>
            </a:r>
            <a:r>
              <a:rPr sz="1500" b="0">
                <a:solidFill>
                  <a:srgbClr val="5B6B64"/>
                </a:solidFill>
                <a:latin typeface="Calibri"/>
              </a:rPr>
              <a:t>  WhatsApp IOU chaos vs. Family ledger calm</a:t>
            </a:r>
          </a:p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★ “4 people, 1 grocery bill”</a:t>
            </a:r>
            <a:r>
              <a:rPr sz="1500" b="0">
                <a:solidFill>
                  <a:srgbClr val="5B6B64"/>
                </a:solidFill>
                <a:latin typeface="Calibri"/>
              </a:rPr>
              <a:t>  — household split shown in 15 seconds</a:t>
            </a:r>
          </a:p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“Day in PKR”</a:t>
            </a:r>
            <a:r>
              <a:rPr sz="1500" b="0">
                <a:solidFill>
                  <a:srgbClr val="5B6B64"/>
                </a:solidFill>
                <a:latin typeface="Calibri"/>
              </a:rPr>
              <a:t>  — salary → bills → leftover forecast</a:t>
            </a:r>
          </a:p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★ Bank SMS → Approve:</a:t>
            </a:r>
            <a:r>
              <a:rPr sz="1500" b="0">
                <a:solidFill>
                  <a:srgbClr val="5B6B64"/>
                </a:solidFill>
                <a:latin typeface="Calibri"/>
              </a:rPr>
              <a:t>  notification in, draft ready, one tap</a:t>
            </a:r>
          </a:p>
          <a:p>
            <a:pPr>
              <a:lnSpc>
                <a:spcPct val="110000"/>
              </a:lnSpc>
              <a:spcAft>
                <a:spcPts val="1584"/>
              </a:spcAft>
            </a:pPr>
            <a:r>
              <a:rPr sz="1500" b="1">
                <a:solidFill>
                  <a:srgbClr val="D95078"/>
                </a:solidFill>
                <a:latin typeface="Calibri"/>
              </a:rPr>
              <a:t>●  ★ “Who paid the Eid shopping?”</a:t>
            </a:r>
            <a:r>
              <a:rPr sz="1500" b="0">
                <a:solidFill>
                  <a:srgbClr val="5B6B64"/>
                </a:solidFill>
                <a:latin typeface="Calibri"/>
              </a:rPr>
              <a:t>  — event ledger reveal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5078"/>
                </a:solidFill>
                <a:latin typeface="Calibri"/>
              </a:rPr>
              <a:t>INSTAGRAM · CAROUSELS &amp;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Carousels &amp; Stories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82296" cy="4206240"/>
          </a:xfrm>
          <a:prstGeom prst="round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D95078"/>
                </a:solidFill>
                <a:latin typeface="Calibri"/>
              </a:rPr>
              <a:t>Carousel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49834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5 reasons your balance should be hidden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Loans you owe vs. money owed to you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Offline money logging for Pakistan's data reality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Emerald → Ocean → Violet theme flex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★ Bank SMS auto-detect, explained in 5 slides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46811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82296" cy="4206240"/>
          </a:xfrm>
          <a:prstGeom prst="round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D95078"/>
                </a:solidFill>
                <a:latin typeface="Calibri"/>
              </a:rPr>
              <a:t>Stories 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58568"/>
            <a:ext cx="501091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Weekly “EMI Countdown” sticker series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★ “Household Sunday” poll: who spent more this week?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Q&amp;A sticker: “Ask me about splitting rent / groceries”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50" b="0">
                <a:solidFill>
                  <a:srgbClr val="142620"/>
                </a:solidFill>
                <a:latin typeface="Calibri"/>
              </a:rPr>
              <a:t>–  Behind-the-scenes: parsing real PK bank SMS in WalletTrail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5078"/>
                </a:solidFill>
                <a:latin typeface="Calibri"/>
              </a:rPr>
              <a:t>INSTAGRAM ·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Hashtags &amp; Calls-to-Action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078"/>
                </a:solidFill>
                <a:latin typeface="Calibri"/>
              </a:rPr>
              <a:t>Hashtag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#WalletTrail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4288" y="2148840"/>
            <a:ext cx="2523744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2148840"/>
            <a:ext cx="25237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#FollowEveryRupee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14884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148840"/>
            <a:ext cx="978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#PKR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51760"/>
            <a:ext cx="2523744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51760"/>
            <a:ext cx="25237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#MoneyAppPakistan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6392" y="2651760"/>
            <a:ext cx="2642615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2651760"/>
            <a:ext cx="2642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#PersonalFinancePK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5468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54680"/>
            <a:ext cx="978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#EMI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91056" y="3154680"/>
            <a:ext cx="2761488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91056" y="3154680"/>
            <a:ext cx="2761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#FreelancerPakistan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5760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5760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#FamilyBudget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60904" y="3657600"/>
            <a:ext cx="2642615" cy="384048"/>
          </a:xfrm>
          <a:prstGeom prst="roundRect">
            <a:avLst>
              <a:gd name="adj" fmla="val 50000"/>
            </a:avLst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3657600"/>
            <a:ext cx="26426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#HouseholdMoneyPK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6052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60520"/>
            <a:ext cx="18105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#SplitFair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16052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416052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#PrivacyFirst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6344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66344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46B4B"/>
                </a:solidFill>
                <a:latin typeface="Calibri"/>
              </a:rPr>
              <a:t>#BankSMS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078"/>
                </a:solidFill>
                <a:latin typeface="Calibri"/>
              </a:rPr>
              <a:t>CTA Options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148840"/>
            <a:ext cx="546811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D95078"/>
                </a:solidFill>
                <a:latin typeface="Calibri"/>
              </a:rPr>
              <a:t>●  “Comment EYE for the privacy demo”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D95078"/>
                </a:solidFill>
                <a:latin typeface="Calibri"/>
              </a:rPr>
              <a:t>●  ★ “Comment SMS for the auto-detect demo”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D95078"/>
                </a:solidFill>
                <a:latin typeface="Calibri"/>
              </a:rPr>
              <a:t>●  “DM APP for the Android install link”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D95078"/>
                </a:solidFill>
                <a:latin typeface="Calibri"/>
              </a:rPr>
              <a:t>●  “Save this for EMI week”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D95078"/>
                </a:solidFill>
                <a:latin typeface="Calibri"/>
              </a:rPr>
              <a:t>●  ★ “Tag the person who tracks house groceries”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5078"/>
                </a:solidFill>
                <a:latin typeface="Calibri"/>
              </a:rPr>
              <a:t>INSTAGRAM · CALENDAR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Sample Week — “Household Week”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D9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76169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D95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109728" marR="109728" marT="54864" marB="54864" anchor="ctr">
                    <a:solidFill>
                      <a:srgbClr val="D950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109728" marR="109728" marT="54864" marB="54864" anchor="ctr">
                    <a:solidFill>
                      <a:srgbClr val="D9507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Mon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“4 people, 1 grocery bill” split demo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Tue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Carousel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Household invite code, explained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Wed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Story series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Household Sunday poll teaser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Thu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WhatsApp IOU chaos vs. Family ledger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Fri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Carousel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5 reasons to hide your balance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Sat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UGC prompt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“Show your household name” (no amounts)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Sun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Story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Household Sunday recap + “Create your household” CTA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D7FA6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WhatsApp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79392"/>
            <a:ext cx="1280160" cy="3810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AF6F0"/>
                </a:solidFill>
                <a:latin typeface="Calibri"/>
              </a:rPr>
              <a:t>Meet families and flatmates where the money conversation already happens.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7FA6"/>
                </a:solidFill>
                <a:latin typeface="Calibri"/>
              </a:rPr>
              <a:t>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Why WhatsApp Works for WalletTrail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600" b="0">
                <a:solidFill>
                  <a:srgbClr val="1D7FA6"/>
                </a:solidFill>
                <a:latin typeface="Calibri"/>
              </a:rPr>
              <a:t>●  The household invite is already a native “Share to WhatsApp” message in-app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600" b="0">
                <a:solidFill>
                  <a:srgbClr val="1D7FA6"/>
                </a:solidFill>
                <a:latin typeface="Calibri"/>
              </a:rPr>
              <a:t>●  Families &amp; flatmates live in WhatsApp groups — meet them there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600" b="0">
                <a:solidFill>
                  <a:srgbClr val="1D7FA6"/>
                </a:solidFill>
                <a:latin typeface="Calibri"/>
              </a:rPr>
              <a:t>●  Broadcast lists are a near-zero-cost retention channel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600" b="0">
                <a:solidFill>
                  <a:srgbClr val="1D7FA6"/>
                </a:solidFill>
                <a:latin typeface="Calibri"/>
              </a:rPr>
              <a:t>●  WhatsApp Status is free, daily, organic reach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600" b="0">
                <a:solidFill>
                  <a:srgbClr val="1D7FA6"/>
                </a:solidFill>
                <a:latin typeface="Calibri"/>
              </a:rPr>
              <a:t>●  Money conversations in PK often already happen on WhatsApp — WalletTrail fits in, doesn't fight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7FA6"/>
                </a:solidFill>
                <a:latin typeface="Calibri"/>
              </a:rPr>
              <a:t>WHATSAPP ·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Broadcast &amp; Status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728"/>
              </a:spcAft>
            </a:pPr>
            <a:r>
              <a:rPr sz="1450" b="1">
                <a:solidFill>
                  <a:srgbClr val="1D7FA6"/>
                </a:solidFill>
                <a:latin typeface="Calibri"/>
              </a:rPr>
              <a:t>●  Weekly broadcast:</a:t>
            </a:r>
            <a:r>
              <a:rPr sz="1450" b="0">
                <a:solidFill>
                  <a:srgbClr val="5B6B64"/>
                </a:solidFill>
                <a:latin typeface="Calibri"/>
              </a:rPr>
              <a:t>  1 quick tip + 1 short feature demo clip + one soft CTA</a:t>
            </a:r>
          </a:p>
          <a:p>
            <a:pPr>
              <a:lnSpc>
                <a:spcPct val="115000"/>
              </a:lnSpc>
              <a:spcAft>
                <a:spcPts val="1728"/>
              </a:spcAft>
            </a:pPr>
            <a:r>
              <a:rPr sz="1450" b="1">
                <a:solidFill>
                  <a:srgbClr val="1D7FA6"/>
                </a:solidFill>
                <a:latin typeface="Calibri"/>
              </a:rPr>
              <a:t>●  ★ Household viral loop:</a:t>
            </a:r>
            <a:r>
              <a:rPr sz="1450" b="0">
                <a:solidFill>
                  <a:srgbClr val="5B6B64"/>
                </a:solidFill>
                <a:latin typeface="Calibri"/>
              </a:rPr>
              <a:t>  “Add your whole flat in one WhatsApp message” — built-in one-tap share</a:t>
            </a:r>
          </a:p>
          <a:p>
            <a:pPr>
              <a:lnSpc>
                <a:spcPct val="115000"/>
              </a:lnSpc>
              <a:spcAft>
                <a:spcPts val="1728"/>
              </a:spcAft>
            </a:pPr>
            <a:r>
              <a:rPr sz="1450" b="1">
                <a:solidFill>
                  <a:srgbClr val="1D7FA6"/>
                </a:solidFill>
                <a:latin typeface="Calibri"/>
              </a:rPr>
              <a:t>●  Status drops, 3x/week:</a:t>
            </a:r>
            <a:r>
              <a:rPr sz="1450" b="0">
                <a:solidFill>
                  <a:srgbClr val="5B6B64"/>
                </a:solidFill>
                <a:latin typeface="Calibri"/>
              </a:rPr>
              <a:t>  15-second clips — privacy eye, SMS Approve, household split</a:t>
            </a:r>
          </a:p>
          <a:p>
            <a:pPr>
              <a:lnSpc>
                <a:spcPct val="115000"/>
              </a:lnSpc>
              <a:spcAft>
                <a:spcPts val="1728"/>
              </a:spcAft>
            </a:pPr>
            <a:r>
              <a:rPr sz="1450" b="1">
                <a:solidFill>
                  <a:srgbClr val="1D7FA6"/>
                </a:solidFill>
                <a:latin typeface="Calibri"/>
              </a:rPr>
              <a:t>●  Seed in community groups:</a:t>
            </a:r>
            <a:r>
              <a:rPr sz="1450" b="0">
                <a:solidFill>
                  <a:srgbClr val="5B6B64"/>
                </a:solidFill>
                <a:latin typeface="Calibri"/>
              </a:rPr>
              <a:t>  freelancer, university, and family/mom groups — opt-in only</a:t>
            </a:r>
          </a:p>
          <a:p>
            <a:pPr>
              <a:lnSpc>
                <a:spcPct val="115000"/>
              </a:lnSpc>
              <a:spcAft>
                <a:spcPts val="1728"/>
              </a:spcAft>
            </a:pPr>
            <a:r>
              <a:rPr sz="1450" b="1">
                <a:solidFill>
                  <a:srgbClr val="1D7FA6"/>
                </a:solidFill>
                <a:latin typeface="Calibri"/>
              </a:rPr>
              <a:t>●  Society / flat notices:</a:t>
            </a:r>
            <a:r>
              <a:rPr sz="1450" b="0">
                <a:solidFill>
                  <a:srgbClr val="5B6B64"/>
                </a:solidFill>
                <a:latin typeface="Calibri"/>
              </a:rPr>
              <a:t>  “Household expense sharing for flats” — tasteful, opt-in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7FA6"/>
                </a:solidFill>
                <a:latin typeface="Calibri"/>
              </a:rPr>
              <a:t>WHATSAPP · SAMPLE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Sample Broadcast — “Split Fair This Month”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6766560" cy="3749039"/>
          </a:xfrm>
          <a:prstGeom prst="roundRect">
            <a:avLst>
              <a:gd name="adj" fmla="val 6000"/>
            </a:avLst>
          </a:prstGeom>
          <a:solidFill>
            <a:srgbClr val="DC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62179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Grocery money confusion at home again?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WalletTrail's Household ledger shows everyone what was spent — and splits it fairly. No more “who paid last time?”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✓ One invite code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✓ Shared expense feed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✓ Split equal, automatically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Tap below to create your household in 30 seconds. [App link]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737360"/>
            <a:ext cx="414223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43800" y="1737360"/>
            <a:ext cx="82296" cy="3749039"/>
          </a:xfrm>
          <a:prstGeom prst="roundRect">
            <a:avLst/>
          </a:prstGeom>
          <a:solidFill>
            <a:srgbClr val="1D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901952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D7FA6"/>
                </a:solidFill>
                <a:latin typeface="Calibri"/>
              </a:rPr>
              <a:t>Rules of Thumb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04288"/>
            <a:ext cx="3685032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Keep the message under 500 characters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Always end with one clear CTA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Max 1 broadcast per week to the same list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Lead with the problem, not the feature name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Never include exact PKR amounts in examples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7A5CD9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Physical &amp; Offline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79392"/>
            <a:ext cx="1280160" cy="3810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AF6F0"/>
                </a:solidFill>
                <a:latin typeface="Calibri"/>
              </a:rPr>
              <a:t>Print, on-ground activations, and community partnerships across Pakistan.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5CD9"/>
                </a:solidFill>
                <a:latin typeface="Calibri"/>
              </a:rPr>
              <a:t>PHYSICAL ·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Print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406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82296" cy="1298448"/>
          </a:xfrm>
          <a:prstGeom prst="round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7A5CD9"/>
                </a:solidFill>
                <a:latin typeface="Calibri"/>
              </a:rPr>
              <a:t>A5 Flyer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4983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250" b="0">
                <a:solidFill>
                  <a:srgbClr val="142620"/>
                </a:solidFill>
                <a:latin typeface="Calibri"/>
              </a:rPr>
              <a:t>–  Front: masked balance + eye. Back: wallets, bills, family, auto SMS detect.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4406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82296" cy="1298448"/>
          </a:xfrm>
          <a:prstGeom prst="round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7A5CD9"/>
                </a:solidFill>
                <a:latin typeface="Calibri"/>
              </a:rPr>
              <a:t>Poster (cafe / uni)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58568"/>
            <a:ext cx="4983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250" b="0">
                <a:solidFill>
                  <a:srgbClr val="142620"/>
                </a:solidFill>
                <a:latin typeface="Calibri"/>
              </a:rPr>
              <a:t>–  “PKR •••• until it's you” + QR to landing / APK page.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36392"/>
            <a:ext cx="54406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136392"/>
            <a:ext cx="82296" cy="1298448"/>
          </a:xfrm>
          <a:prstGeom prst="round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0098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7A5CD9"/>
                </a:solidFill>
                <a:latin typeface="Calibri"/>
              </a:rPr>
              <a:t>Sticker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4983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250" b="0">
                <a:solidFill>
                  <a:srgbClr val="142620"/>
                </a:solidFill>
                <a:latin typeface="Calibri"/>
              </a:rPr>
              <a:t>–  Eye icon + “WalletTrail” wordmark.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36392"/>
            <a:ext cx="54406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136392"/>
            <a:ext cx="82296" cy="1298448"/>
          </a:xfrm>
          <a:prstGeom prst="round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0098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7A5CD9"/>
                </a:solidFill>
                <a:latin typeface="Calibri"/>
              </a:rPr>
              <a:t>Table 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03320"/>
            <a:ext cx="4983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250" b="0">
                <a:solidFill>
                  <a:srgbClr val="142620"/>
                </a:solidFill>
                <a:latin typeface="Calibri"/>
              </a:rPr>
              <a:t>–  “Bank SMS in? Just tap Approve.”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81144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581144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581144"/>
            <a:ext cx="82296" cy="1298448"/>
          </a:xfrm>
          <a:prstGeom prst="round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45736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0932E"/>
                </a:solidFill>
                <a:latin typeface="Calibri"/>
              </a:rPr>
              <a:t>★ Household Invite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48072"/>
            <a:ext cx="1072591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Printable card with QR / invite code — “Add your family in 30 seconds.”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5CD9"/>
                </a:solidFill>
                <a:latin typeface="Calibri"/>
              </a:rPr>
              <a:t>PHYSICAL · ACTIVATIONS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On-Ground Activations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1">
                <a:solidFill>
                  <a:srgbClr val="7A5CD9"/>
                </a:solidFill>
                <a:latin typeface="Calibri"/>
              </a:rPr>
              <a:t>●  University stall:</a:t>
            </a:r>
            <a:r>
              <a:rPr sz="1550" b="0">
                <a:solidFill>
                  <a:srgbClr val="5B6B64"/>
                </a:solidFill>
                <a:latin typeface="Calibri"/>
              </a:rPr>
              <a:t>  30-second privacy unlock challenge; sticker reward for signup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1">
                <a:solidFill>
                  <a:srgbClr val="7A5CD9"/>
                </a:solidFill>
                <a:latin typeface="Calibri"/>
              </a:rPr>
              <a:t>●  Coworking / freelancer meetup:</a:t>
            </a:r>
            <a:r>
              <a:rPr sz="1550" b="0">
                <a:solidFill>
                  <a:srgbClr val="5B6B64"/>
                </a:solidFill>
                <a:latin typeface="Calibri"/>
              </a:rPr>
              <a:t>  live demo: bank SMS → Approve in WalletTrail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1">
                <a:solidFill>
                  <a:srgbClr val="7A5CD9"/>
                </a:solidFill>
                <a:latin typeface="Calibri"/>
              </a:rPr>
              <a:t>●  ★ Family Sunday Bazaar:</a:t>
            </a:r>
            <a:r>
              <a:rPr sz="1550" b="0">
                <a:solidFill>
                  <a:srgbClr val="5B6B64"/>
                </a:solidFill>
                <a:latin typeface="Calibri"/>
              </a:rPr>
              <a:t>  Household invite codes printed on cards — parents join kids' household on the spot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1">
                <a:solidFill>
                  <a:srgbClr val="7A5CD9"/>
                </a:solidFill>
                <a:latin typeface="Calibri"/>
              </a:rPr>
              <a:t>●  QR on receipt holders:</a:t>
            </a:r>
            <a:r>
              <a:rPr sz="1550" b="0">
                <a:solidFill>
                  <a:srgbClr val="5B6B64"/>
                </a:solidFill>
                <a:latin typeface="Calibri"/>
              </a:rPr>
              <a:t>  at partner shops (5–10 shops) — “Track this expense in WalletTrail”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5CD9"/>
                </a:solidFill>
                <a:latin typeface="Calibri"/>
              </a:rPr>
              <a:t>PHYSICAL ·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Partnerships &amp;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7A5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0">
                <a:solidFill>
                  <a:srgbClr val="7A5CD9"/>
                </a:solidFill>
                <a:latin typeface="Calibri"/>
              </a:rPr>
              <a:t>●  Freelancer communities — developers, content creators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0">
                <a:solidFill>
                  <a:srgbClr val="7A5CD9"/>
                </a:solidFill>
                <a:latin typeface="Calibri"/>
              </a:rPr>
              <a:t>●  Small business / shop owners with supplier payables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0">
                <a:solidFill>
                  <a:srgbClr val="7A5CD9"/>
                </a:solidFill>
                <a:latin typeface="Calibri"/>
              </a:rPr>
              <a:t>●  Newly married / engagement loan trackers — respectful, low-key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0">
                <a:solidFill>
                  <a:srgbClr val="7A5CD9"/>
                </a:solidFill>
                <a:latin typeface="Calibri"/>
              </a:rPr>
              <a:t>●  ★ Housing societies &amp; shared flats — notice boards for “household expense sharing”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550" b="0">
                <a:solidFill>
                  <a:srgbClr val="7A5CD9"/>
                </a:solidFill>
                <a:latin typeface="Calibri"/>
              </a:rPr>
              <a:t>●  ★ Extended-family WhatsApp admins — the relative who already tracks the Eid budget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E0932E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Flagship Campaigns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79392"/>
            <a:ext cx="128016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AF6F0"/>
                </a:solidFill>
                <a:latin typeface="Calibri"/>
              </a:rPr>
              <a:t>Five ready-to-produce campaigns: privacy, reminders, UGC, household, and auto SMS detect.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CAMPAIGN 01 · HOUSEHOLD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“One Code, One House”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146B4B"/>
                </a:solidFill>
                <a:latin typeface="Calibri"/>
              </a:rPr>
              <a:t>Every household gets one invite code — the whole family joins in under a minute.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28016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MECHANIC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Post the demo Reel + carousel explainer → drive to “Comment HOUSE” → DM the invite-code walkthrough → track households created that week.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2044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Instagram Reels + Carousel, WhatsApp broadcast, Family Sunday Bazaar cards.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KPI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5720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Households created, members per household, week-2 retention of household members.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CAMPAIGN 02 ·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“EMI Day, Handled”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146B4B"/>
                </a:solidFill>
                <a:latin typeface="Calibri"/>
              </a:rPr>
              <a:t>Loans don't wait — WalletTrail reminds you 3 days, 1 day, and on the due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28016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MECHANIC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Weekly “EMI Countdown” Stories series + Reel showing due-soon badge → notification → paid. CTA: “Save this for EMI week.”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2044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Instagram Stories/Reels, WhatsApp Status, poster QR at cafes &amp; coworking spaces.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KPI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5720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Reminder opt-ins, on-time payment mark rate, saves &amp; shares.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CAMPAIGN 03 · UGC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“Show Your Wallet Names” (No Amounts)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146B4B"/>
                </a:solidFill>
                <a:latin typeface="Calibri"/>
              </a:rPr>
              <a:t>Privacy-first UGC — show off your wallet setup without revealing a single rupee.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28016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MECHANIC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Users screenshot their masked wallet list (PKR •••• everywhere) and tag WalletTrail; best / funniest wallet names get reposted to Stories.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2044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Instagram UGC + repost, community stickers at stalls.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KPI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5720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Tagged posts, Story reach, follower growth, sign-up clicks from bio.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CAMPAIGN 04 · SEASONAL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“Eid Ledger Challenge”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146B4B"/>
                </a:solidFill>
                <a:latin typeface="Calibri"/>
              </a:rPr>
              <a:t>Track the whole family's Eid shopping and gifting in one Event ledger — see the final total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28016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MECHANIC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Create an “Eid” Event household ledger → log gifts/shopping all month → close the ledger → share the final breakdown as a Story: “Our Eid, tracked together.”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2044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Seasonal Reels + carousel, WhatsApp broadcast timed to Chaand Raat, printed cards at bazaars.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KPI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5720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Event ledgers created &amp; closed, shares of the “final breakdown” Story.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Metrics to Track, by Funnel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4233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227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109728" marR="109728" marT="54864" marB="54864" anchor="ctr">
                    <a:solidFill>
                      <a:srgbClr val="1F9D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9728" marR="109728" marT="54864" marB="54864" anchor="ctr">
                    <a:solidFill>
                      <a:srgbClr val="1F9D6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Awareness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Reach, views, saves on Reels / Carousels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Interest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Story replies, DMs, comment keywords (EYE / HOUSE / SMS)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Consideration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Landing page / APK page visits, click-through rate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Install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Installs / APK downloads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Activation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Wallet created, first expense or SMS approve, PIN, household joined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2620"/>
                          </a:solidFill>
                          <a:latin typeface="Calibri"/>
                        </a:rPr>
                        <a:t>7/30-day active, reminder + SMS opt-in, weekly household activity</a:t>
                      </a:r>
                    </a:p>
                  </a:txBody>
                  <a:tcPr marL="109728" marR="109728" marT="54864" marB="54864" anchor="ctr">
                    <a:solidFill>
                      <a:srgbClr val="F3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6E"/>
                </a:solidFill>
                <a:latin typeface="Calibri"/>
              </a:rPr>
              <a:t>WRAP-UP · STAY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Trust &amp; Claims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82296" cy="4206240"/>
          </a:xfrm>
          <a:prstGeom prst="round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9D6E"/>
                </a:solidFill>
                <a:latin typeface="Calibri"/>
              </a:rPr>
              <a:t>✅  Safe to 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49834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Track wallets, income, bills, loans — including auto-detected SMS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Hide amounts with biometrics / PIN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Works offline for personal transactions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Reminders for due loans &amp; money owed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Built for PKR / Pakistan timezone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Android app; opt-in SMS detect — you approve every draft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46811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82296" cy="4206240"/>
          </a:xfrm>
          <a:prstGeom prst="roundRect">
            <a:avLst/>
          </a:prstGeom>
          <a:solidFill>
            <a:srgbClr val="C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03B3B"/>
                </a:solidFill>
                <a:latin typeface="Calibri"/>
              </a:rPr>
              <a:t>❌  Don't Say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58568"/>
            <a:ext cx="501091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“We move / withdraw your bank money”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“Unhackable” / “military encryption”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“Works fully offline for family sharing”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“We read all your messages” / silent auto-posting</a:t>
            </a:r>
          </a:p>
          <a:p>
            <a:pPr>
              <a:lnSpc>
                <a:spcPct val="105000"/>
              </a:lnSpc>
              <a:spcAft>
                <a:spcPts val="576"/>
              </a:spcAft>
            </a:pPr>
            <a:r>
              <a:rPr sz="1300" b="0">
                <a:solidFill>
                  <a:srgbClr val="142620"/>
                </a:solidFill>
                <a:latin typeface="Calibri"/>
              </a:rPr>
              <a:t>–  “On Play Store” before listing exists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932E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1887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Let's make Household + Auto Detect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reason people install WalletTrail.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9D6E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728"/>
              </a:spcAft>
            </a:pPr>
            <a:r>
              <a:rPr sz="1600" b="0">
                <a:solidFill>
                  <a:srgbClr val="EAF6F0"/>
                </a:solidFill>
                <a:latin typeface="Calibri"/>
              </a:rPr>
              <a:t>→  Approve which flagship campaign(s) to produce first</a:t>
            </a:r>
          </a:p>
          <a:p>
            <a:pPr>
              <a:lnSpc>
                <a:spcPct val="108000"/>
              </a:lnSpc>
              <a:spcAft>
                <a:spcPts val="1728"/>
              </a:spcAft>
            </a:pPr>
            <a:r>
              <a:rPr sz="1600" b="0">
                <a:solidFill>
                  <a:srgbClr val="EAF6F0"/>
                </a:solidFill>
                <a:latin typeface="Calibri"/>
              </a:rPr>
              <a:t>→  Script + shoot household Reels and the SMS → Approve Reel</a:t>
            </a:r>
          </a:p>
          <a:p>
            <a:pPr>
              <a:lnSpc>
                <a:spcPct val="108000"/>
              </a:lnSpc>
              <a:spcAft>
                <a:spcPts val="1728"/>
              </a:spcAft>
            </a:pPr>
            <a:r>
              <a:rPr sz="1600" b="0">
                <a:solidFill>
                  <a:srgbClr val="EAF6F0"/>
                </a:solidFill>
                <a:latin typeface="Calibri"/>
              </a:rPr>
              <a:t>→  Draft WhatsApp broadcast, household invite card, and SMS opt-in walkthrough</a:t>
            </a:r>
          </a:p>
          <a:p>
            <a:pPr>
              <a:lnSpc>
                <a:spcPct val="108000"/>
              </a:lnSpc>
              <a:spcAft>
                <a:spcPts val="1728"/>
              </a:spcAft>
            </a:pPr>
            <a:r>
              <a:rPr sz="1600" b="0">
                <a:solidFill>
                  <a:srgbClr val="EAF6F0"/>
                </a:solidFill>
                <a:latin typeface="Calibri"/>
              </a:rPr>
              <a:t>→  Set a launch week date and align with the Play Store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F9D6E"/>
                </a:solidFill>
                <a:latin typeface="Calibri"/>
              </a:rPr>
              <a:t>WalletTrail  —  Follow every rupee.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rgbClr val="0A2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932E"/>
                </a:solidFill>
                <a:latin typeface="Calibri"/>
              </a:rP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Auto Detect — Bank Message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1">
                <a:solidFill>
                  <a:srgbClr val="E0932E"/>
                </a:solidFill>
                <a:latin typeface="Calibri"/>
              </a:rPr>
              <a:t>“Bank SMS in. Draft ready. You approve.”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Opt-in auto-detect of bank SMS &amp; payment notifications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Parses amount, type, and bank from Pakistani messages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Matches the right wallet (e.g. Meezan → Meezan wallet)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ATM cash-out becomes a bank → cash move, not a spend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You Approve, Reject, or edit — never silent posting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Review the same queue on Android and on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Why market it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0604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Manual logging is the #1 reason money apps get abandoned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Every PK debit/credit already arrives as a bank SMS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Permission-first: no SMS access until the user opts in</a:t>
            </a:r>
          </a:p>
          <a:p>
            <a:pPr>
              <a:lnSpc>
                <a:spcPct val="108000"/>
              </a:lnSpc>
              <a:spcAft>
                <a:spcPts val="1152"/>
              </a:spcAft>
            </a:pPr>
            <a:r>
              <a:rPr sz="1350" b="0">
                <a:solidFill>
                  <a:srgbClr val="EAF6F0"/>
                </a:solidFill>
                <a:latin typeface="Calibri"/>
              </a:rPr>
              <a:t>●  Differentiates WalletTrail from tap-everything trackers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EAF6F0"/>
                </a:solidFill>
                <a:latin typeface="Calibri"/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>
          <a:srgbClr val="F3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384048" cy="914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CAMPAIGN 05 · AUTO DETECT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620"/>
                </a:solidFill>
                <a:latin typeface="Calibri"/>
              </a:rPr>
              <a:t>“SMS In, Ledger Ready”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3112" cy="17780"/>
          </a:xfrm>
          <a:prstGeom prst="rect">
            <a:avLst/>
          </a:prstGeom>
          <a:solidFill>
            <a:srgbClr val="DD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WalletTrail  ·  Follow every rupee.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64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794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146B4B"/>
                </a:solidFill>
                <a:latin typeface="Calibri"/>
              </a:rPr>
              <a:t>Bank SMS arrives — WalletTrail drafts the transaction. You tap Approve.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280160" cy="38100"/>
          </a:xfrm>
          <a:prstGeom prst="rect">
            <a:avLst/>
          </a:prstGeom>
          <a:solidFill>
            <a:srgbClr val="E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MECHANIC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Reel: bank SMS notification → suggestion card → Approve. CTA: “Comment SMS for the demo.”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2044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Instagram Reels + Stories, WhatsApp Status, live demo at university stalls.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932E"/>
                </a:solidFill>
                <a:latin typeface="Calibri"/>
              </a:rPr>
              <a:t>KPI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5720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620"/>
                </a:solidFill>
                <a:latin typeface="Calibri"/>
              </a:rPr>
              <a:t>SMS opt-ins, suggestions approved, time-to-first-transaction after install.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